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C295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C2951"/>
                </a:solidFill>
                <a:latin typeface="Arial"/>
              </a:rPr>
              <a:t>Price vs MMR Benchmark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C29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A4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295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Avg Selling Price</c:v>
                  </c:pt>
                  <c:pt idx="1">
                    <c:v>Avg MMR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13493</c:v>
                </c:pt>
                <c:pt idx="1">
                  <c:v>13700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A4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0"/>
          <c:min val="13000"/>
        </c:scaling>
        <c:delete val="0"/>
        <c:axPos val="l"/>
        <c:majorGridlines>
          <c:spPr>
            <a:ln w="5080" cap="flat">
              <a:solidFill>
                <a:srgbClr val="D5D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850" b="0" i="0" u="none" strike="noStrike">
                <a:solidFill>
                  <a:srgbClr val="1C2951"/>
                </a:solidFill>
                <a:latin typeface="Arial"/>
              </a:defRPr>
            </a:pPr>
            <a:r>
              <a:rPr sz="850" b="0" i="0" u="none" strike="noStrike">
                <a:solidFill>
                  <a:srgbClr val="1C2951"/>
                </a:solidFill>
                <a:latin typeface="Arial"/>
              </a:rPr>
              <a:t>Feature Importance (Pearson 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4A4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A4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4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4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4A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295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Vehicle Age</c:v>
                  </c:pt>
                  <c:pt idx="1">
                    <c:v>Condition</c:v>
                  </c:pt>
                  <c:pt idx="2">
                    <c:v>Odometer</c:v>
                  </c:pt>
                  <c:pt idx="3">
                    <c:v>MMR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0.21</c:v>
                </c:pt>
                <c:pt idx="1">
                  <c:v>0.36</c:v>
                </c:pt>
                <c:pt idx="2">
                  <c:v>0.52</c:v>
                </c:pt>
                <c:pt idx="3">
                  <c:v>0.97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A4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bhinavbajpai30/SectionB_TeamG4_JudgingACarByItsCove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bhinavbajpai30/SectionB_TeamG4_JudgingACarByItsCove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9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82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School of Technology  |  DVA Capstone 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62179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a Car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its Cover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Vehicle Pricing Intelligence  —  Automotive Retail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5943600" cy="27432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46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Sector: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Retail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Institute: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School of Technology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343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11880" y="3246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Satyaki Das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11880" y="36118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 Bajpai · Kushagra Bhardwaj · Rishiwant K. Maurya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Pranav Singh · Samriddhi Shah · Drishti Jha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3611880" y="4160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</a:t>
            </a:r>
            <a:pPr indent="0" marL="0">
              <a:buNone/>
            </a:pPr>
            <a:r>
              <a:rPr lang="en-US" sz="950" u="sng" dirty="0">
                <a:solidFill>
                  <a:srgbClr val="7EC8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github.com/Abhinavbajpai30/SectionB_TeamG4_JudgingACarByItsCover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11880" y="4526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Submitted: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April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Minute at Auction, Dealers Are Guessing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3566160" cy="39776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058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$840B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American Used Vehicle Market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5840" y="2148840"/>
            <a:ext cx="2286000" cy="228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24028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40M+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2880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transacted annually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05840" y="3218688"/>
            <a:ext cx="2286000" cy="228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31012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548,486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transactions analysed in this project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60520" y="868680"/>
            <a:ext cx="4663440" cy="1188720"/>
          </a:xfrm>
          <a:prstGeom prst="rect">
            <a:avLst/>
          </a:prstGeom>
          <a:solidFill>
            <a:srgbClr val="F4F6F8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60520" y="868680"/>
            <a:ext cx="54864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9601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43400" y="1252728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auctions power the used-vehicle supply chain. Dealers must price in seconds. A 3–5% acquisition error erases all front-end gross profit on the retail sale.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60520" y="2176272"/>
            <a:ext cx="4663440" cy="1188720"/>
          </a:xfrm>
          <a:prstGeom prst="rect">
            <a:avLst/>
          </a:prstGeom>
          <a:solidFill>
            <a:srgbClr val="F4F6F8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60520" y="2176272"/>
            <a:ext cx="54864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226771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Decision-Maker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43400" y="2560320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buyers, pricing managers, and remarketing directors at franchised and independent dealerships — evaluating hundreds of vehicles per week.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60520" y="3483864"/>
            <a:ext cx="4663440" cy="1188720"/>
          </a:xfrm>
          <a:prstGeom prst="rect">
            <a:avLst/>
          </a:prstGeom>
          <a:solidFill>
            <a:srgbClr val="F4F6F8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60520" y="3483864"/>
            <a:ext cx="54864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357530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Business Question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43400" y="3867912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vehicle and market attributes predict whether a car sells above or below its MMR benchmark — and by exactly how much?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60520" y="4690872"/>
            <a:ext cx="466344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470001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Build a pricing model so dealers stop guessing and start winning.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548,486 Transactions — Cleaned, Enriched, and Analysis-Ready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783080" cy="91440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8686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52144"/>
            <a:ext cx="17830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558,837 rows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columns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2014–2015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286000" y="1261872"/>
            <a:ext cx="320040" cy="0"/>
          </a:xfrm>
          <a:prstGeom prst="line">
            <a:avLst/>
          </a:prstGeom>
          <a:noFill/>
          <a:ln w="25400">
            <a:solidFill>
              <a:srgbClr val="1C2951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2651760" y="804672"/>
            <a:ext cx="178308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8686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1152144"/>
            <a:ext cx="17830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10,351 removed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imputed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capped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480560" y="1261872"/>
            <a:ext cx="320040" cy="0"/>
          </a:xfrm>
          <a:prstGeom prst="line">
            <a:avLst/>
          </a:prstGeom>
          <a:noFill/>
          <a:ln w="25400">
            <a:solidFill>
              <a:srgbClr val="1C2951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846320" y="804672"/>
            <a:ext cx="178308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8686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152144"/>
            <a:ext cx="17830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new features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vehicle_age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price_deviation%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675120" y="1261872"/>
            <a:ext cx="320040" cy="0"/>
          </a:xfrm>
          <a:prstGeom prst="line">
            <a:avLst/>
          </a:prstGeom>
          <a:noFill/>
          <a:ln w="25400">
            <a:solidFill>
              <a:srgbClr val="1C2951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7040880" y="804672"/>
            <a:ext cx="1783080" cy="91440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40880" y="8686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40880" y="1152144"/>
            <a:ext cx="17830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columns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ML-ready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Tableau-ready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192024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1920240"/>
            <a:ext cx="26517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0116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2359152"/>
            <a:ext cx="2423160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Manheim Used Vehicle Sales (Kaggle, CC0 licence)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558,837 rows × 16 columns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2014–2015 | US + Canadian provinces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fields: sellingprice, MMR, odometer, condition, make, state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83280" y="192024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83280" y="1920240"/>
            <a:ext cx="26517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20116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ETL — 3 Major Steps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93008" y="2359152"/>
            <a:ext cx="2423160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 Transmission (11.69%) — stratified mode per make × body group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treatment: IQR winsorisation (2.5×) on price, MMR, odometer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parsing: Custom regex to handle non-standard GMT auction timestamps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 rows removed (pre-1990 or price ≤ 0)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309360" y="192024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1920240"/>
            <a:ext cx="26517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20116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13 New Columns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19088" y="2359152"/>
            <a:ext cx="2423160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vehicle_age: Age at time of sale (years)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price_deviation_pct: (price − MMR) / MMR × 100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odometer_bucket: 0-30k / 30-60k / 60-100k / 100-150k / 150k+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condition_tier: Poor / Fair / Good / Excellent (quartile-based)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5760" y="488289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notebooks/01_extraction.ipynb  |  notebooks/02_cleaning.ipynb  — committed to GitHub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KPIs That Tell the Complete Pricing Story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in notebooks/05_final_load_prep.ipynb — exported as KPI CSVs for Tableau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084832" cy="96012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2084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548,486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78608" y="914400"/>
            <a:ext cx="2084832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78608" y="1005840"/>
            <a:ext cx="2084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$7.45B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78608" y="153619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Market Volume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91456" y="914400"/>
            <a:ext cx="2084832" cy="96012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91456" y="1005840"/>
            <a:ext cx="2084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$13,493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91456" y="153619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Selling Price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004304" y="914400"/>
            <a:ext cx="2084832" cy="96012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04304" y="1005840"/>
            <a:ext cx="2084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$13,700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004304" y="153619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MMR Benchmark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1993392"/>
            <a:ext cx="2084832" cy="914400"/>
          </a:xfrm>
          <a:prstGeom prst="rect">
            <a:avLst/>
          </a:prstGeom>
          <a:solidFill>
            <a:srgbClr val="F4F6F8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05740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−1.18%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65760" y="2596896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vs MMR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78608" y="1993392"/>
            <a:ext cx="2084832" cy="914400"/>
          </a:xfrm>
          <a:prstGeom prst="rect">
            <a:avLst/>
          </a:prstGeom>
          <a:solidFill>
            <a:srgbClr val="F4F6F8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78608" y="205740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578608" y="2596896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Sold Above MMR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91456" y="1993392"/>
            <a:ext cx="2084832" cy="914400"/>
          </a:xfrm>
          <a:prstGeom prst="rect">
            <a:avLst/>
          </a:prstGeom>
          <a:solidFill>
            <a:srgbClr val="F4F6F8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91456" y="205740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0.97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791456" y="2596896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Correlation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004304" y="1993392"/>
            <a:ext cx="2084832" cy="914400"/>
          </a:xfrm>
          <a:prstGeom prst="rect">
            <a:avLst/>
          </a:prstGeom>
          <a:solidFill>
            <a:srgbClr val="F4F6F8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004304" y="205740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004304" y="2596896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Realisation Rate</a:t>
            </a:r>
            <a:endParaRPr lang="en-US" sz="85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365760" y="3035808"/>
          <a:ext cx="384048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Shape 26"/>
          <p:cNvSpPr/>
          <p:nvPr/>
        </p:nvSpPr>
        <p:spPr>
          <a:xfrm>
            <a:off x="4389120" y="3035808"/>
            <a:ext cx="4389120" cy="19202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4526280" y="31272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Tension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526280" y="3493008"/>
            <a:ext cx="41148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 sits $207 below MMR.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46.8% of deals beat the benchmark.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beats MMR and why?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question this project answers.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9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Findings That Change How You Price a Used Car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320040" y="5486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548,486 real transactions — here is what the data actually says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325880"/>
          </a:xfrm>
          <a:prstGeom prst="rect">
            <a:avLst/>
          </a:prstGeom>
          <a:solidFill>
            <a:srgbClr val="263454"/>
          </a:solidFill>
          <a:ln w="6350">
            <a:solidFill>
              <a:srgbClr val="2E40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14984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87552" y="1024128"/>
            <a:ext cx="3364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is the pricing truth — not a suggestion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7552" y="1453896"/>
            <a:ext cx="3364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0.97 with selling price — explains 94% of all price variance. Any bid that ignores MMR is statistically guaranteed to be wrong.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365760" y="2130552"/>
            <a:ext cx="1280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eda_11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206240" cy="1325880"/>
          </a:xfrm>
          <a:prstGeom prst="rect">
            <a:avLst/>
          </a:prstGeom>
          <a:solidFill>
            <a:srgbClr val="263454"/>
          </a:solidFill>
          <a:ln w="6350">
            <a:solidFill>
              <a:srgbClr val="2E40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14984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376672" y="1024128"/>
            <a:ext cx="3364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10,000 miles costs ~$430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76672" y="1453896"/>
            <a:ext cx="3364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Odometer vs price r = −0.62. A vehicle at 80k miles should be bid $2,150 below a 30k-mile equivalent. Same MMR does not mean same value.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754880" y="2130552"/>
            <a:ext cx="1280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eda_05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4206240" cy="1325880"/>
          </a:xfrm>
          <a:prstGeom prst="rect">
            <a:avLst/>
          </a:prstGeom>
          <a:solidFill>
            <a:srgbClr val="263454"/>
          </a:solidFill>
          <a:ln w="6350">
            <a:solidFill>
              <a:srgbClr val="2E40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32304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87552" y="2441448"/>
            <a:ext cx="3364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score is worth $2,000–$3,500 in real dollars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87552" y="2871216"/>
            <a:ext cx="3364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Excellent-condition vehicles command a $2,000–$3,500 premium over Poor/Fair at identical mileage. The grader's score is a pricing input, not a formality.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365760" y="3547872"/>
            <a:ext cx="1280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eda_02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663440" y="2377440"/>
            <a:ext cx="4206240" cy="1325880"/>
          </a:xfrm>
          <a:prstGeom prst="rect">
            <a:avLst/>
          </a:prstGeom>
          <a:solidFill>
            <a:srgbClr val="263454"/>
          </a:solidFill>
          <a:ln w="6350">
            <a:solidFill>
              <a:srgbClr val="2E40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432304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376672" y="2441448"/>
            <a:ext cx="3364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transmission commands a proven premium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76672" y="2871216"/>
            <a:ext cx="3364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t-test p &lt; 0.001 confirms automatics sell significantly higher than manuals. Not intuition — statistically proven at 558k observations.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754880" y="3547872"/>
            <a:ext cx="1280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stat_04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74320" y="3749040"/>
            <a:ext cx="4206240" cy="1325880"/>
          </a:xfrm>
          <a:prstGeom prst="rect">
            <a:avLst/>
          </a:prstGeom>
          <a:solidFill>
            <a:srgbClr val="263454"/>
          </a:solidFill>
          <a:ln w="6350">
            <a:solidFill>
              <a:srgbClr val="2E40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803904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87552" y="3813048"/>
            <a:ext cx="3364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is the peak — source in Q4 and Q1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87552" y="4242816"/>
            <a:ext cx="3364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Mid-year prices (Jun–Jul avg $16,700+) run significantly above Dec–Apr lows ($10,300–$11,200). Front-load acquisition in Q4/Q1 and retail in summer to capture the seasonal spread.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365760" y="4919472"/>
            <a:ext cx="1280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eda_08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663440" y="3749040"/>
            <a:ext cx="4206240" cy="1325880"/>
          </a:xfrm>
          <a:prstGeom prst="rect">
            <a:avLst/>
          </a:prstGeom>
          <a:solidFill>
            <a:srgbClr val="263454"/>
          </a:solidFill>
          <a:ln w="6350">
            <a:solidFill>
              <a:srgbClr val="2E40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803904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5376672" y="3813048"/>
            <a:ext cx="3364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Ontario, Tennessee and Colorado are premium markets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76672" y="4242816"/>
            <a:ext cx="3364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states show above-average price-to-MMR ratios. Source from low-price states, retail in premium markets — the arbitrage covers logistics cost.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4754880" y="4919472"/>
            <a:ext cx="1280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eda_07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1887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EDA: We Tested, Modelled, and Segmented the Market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274320" y="749808"/>
            <a:ext cx="2743200" cy="4224528"/>
          </a:xfrm>
          <a:prstGeom prst="rect">
            <a:avLst/>
          </a:prstGeom>
          <a:solidFill>
            <a:srgbClr val="F4F6F8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749808"/>
            <a:ext cx="2743200" cy="54864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46120" y="749808"/>
            <a:ext cx="2743200" cy="4224528"/>
          </a:xfrm>
          <a:prstGeom prst="rect">
            <a:avLst/>
          </a:prstGeom>
          <a:solidFill>
            <a:srgbClr val="F4F6F8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46120" y="749808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749808"/>
            <a:ext cx="2743200" cy="4224528"/>
          </a:xfrm>
          <a:prstGeom prst="rect">
            <a:avLst/>
          </a:prstGeom>
          <a:solidFill>
            <a:srgbClr val="F4F6F8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0" y="749808"/>
            <a:ext cx="274320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412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1155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+ 3 Factors = 94% Accuracy</a:t>
            </a:r>
            <a:endParaRPr lang="en-US" sz="9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320040" y="1444752"/>
          <a:ext cx="265176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411480" y="3200400"/>
            <a:ext cx="246888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 ≈  $1,180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  ≈  $740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 scikit-learn, statsmodels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383280" y="8412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383280" y="11155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Assumptions — All Statistically Confirmed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383280" y="1508760"/>
            <a:ext cx="24688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93008" y="1563624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Automatics sell higher than manuals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493008" y="1947672"/>
            <a:ext cx="22494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t-test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493008" y="2148840"/>
            <a:ext cx="22494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H0  |  p &lt; 0.001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383280" y="2514600"/>
            <a:ext cx="24688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93008" y="2569464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Luxury beats non-luxury price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493008" y="2953512"/>
            <a:ext cx="22494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493008" y="3154680"/>
            <a:ext cx="22494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H0  |  p &lt; 0.001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383280" y="3520440"/>
            <a:ext cx="24688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93008" y="3575304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Condition tier drives price differences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493008" y="3959352"/>
            <a:ext cx="22494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493008" y="4160520"/>
            <a:ext cx="22494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H0  |  F = 44,299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383280" y="480060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 scipy.stats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355080" y="8412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Segmentation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355080" y="11155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Distinct Market Segments (k=4, elbow method)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309360" y="1508760"/>
            <a:ext cx="54864" cy="658368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73952" y="1545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Fleet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473952" y="17830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$4k–$9k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473952" y="19659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mileage · Age 8–15 yrs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309360" y="2286000"/>
            <a:ext cx="54864" cy="6583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73952" y="23225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Value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473952" y="25603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$9k–$16k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473952" y="27432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mi · Age 4–8 yrs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309360" y="3063240"/>
            <a:ext cx="54864" cy="6583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73952" y="30998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Late-Model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6473952" y="33375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$16k–$28k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473952" y="35204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mileage · Age 2–5 yrs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309360" y="3840480"/>
            <a:ext cx="54864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73952" y="387705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Low-Mile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6473952" y="41148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$28k+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473952" y="42976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Near-new · &lt;20k miles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6309360" y="477316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04_statistical_analysis.ipynb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Dashboards. One for Every Decision-Maker.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04672"/>
            <a:ext cx="69037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04672"/>
            <a:ext cx="777240" cy="120700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33856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70432" y="877824"/>
            <a:ext cx="589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Pricing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70432" y="1152144"/>
            <a:ext cx="5897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CEO  |  VP Remarketing  |  Finance Director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70432" y="1371600"/>
            <a:ext cx="589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Views: KPI banner + Monthly price vs MMR trend line + Top 10 makes by price + Deviation gauge by body style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70432" y="1700784"/>
            <a:ext cx="5897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Year  |  Make  |  Body Style  |  State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130552"/>
            <a:ext cx="69037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30552"/>
            <a:ext cx="777240" cy="1207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459736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70432" y="2203704"/>
            <a:ext cx="589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Pricing Drill-Down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2478024"/>
            <a:ext cx="5897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Auction Buyers  |  Pricing Analysts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70432" y="2697480"/>
            <a:ext cx="589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Views: Scatter: sellingprice vs MMR (filterable) + Box plots by odometer bucket + Filled state heat map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70432" y="3026664"/>
            <a:ext cx="5897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Make  |  Model  |  Year Range  |  Mileage Band  |  Condition Tier  |  Transmission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456432"/>
            <a:ext cx="69037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456432"/>
            <a:ext cx="777240" cy="1207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785616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70432" y="3529584"/>
            <a:ext cx="589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&amp; Segmentation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70432" y="3803904"/>
            <a:ext cx="5897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Fleet Managers  |  Remarketing Directors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70432" y="4023360"/>
            <a:ext cx="589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Views: K-Means segment treemap + Regional deviation map (red = below / green = above MMR) + Seasonal trend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70432" y="4352544"/>
            <a:ext cx="5897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Segment  |  Year  |  State  |  Condition Tier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06640" y="804672"/>
            <a:ext cx="1463040" cy="390448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914400"/>
            <a:ext cx="1371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make — all views update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LOD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KPIs at any filter state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Map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below MMR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above MMR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4709160"/>
            <a:ext cx="85953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718304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Public URL: Available on request from the project team.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Actions. ~$914,000 in Recoverable Annual Gross Profit.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20040" y="530352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traces directly to a finding from the analysis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649224"/>
          </a:xfrm>
          <a:prstGeom prst="rect">
            <a:avLst/>
          </a:prstGeom>
          <a:solidFill>
            <a:srgbClr val="F4F6F8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914400" cy="6492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69848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371600" y="9326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— Adopt MMR-Anchored Bid Pricing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121615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1: MMR r=0.97  |  Bid = MMR × (1 + mileage_adj + condition_adj + make_adj)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92240" y="960120"/>
            <a:ext cx="219456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96926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+$27,000/mo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" y="1591056"/>
            <a:ext cx="8503920" cy="649224"/>
          </a:xfrm>
          <a:prstGeom prst="rect">
            <a:avLst/>
          </a:prstGeom>
          <a:solidFill>
            <a:srgbClr val="F4F6F8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591056"/>
            <a:ext cx="914400" cy="64922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792224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371600" y="165506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— Prioritise Low-Mileage Sourcing (0–30k miles)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0" y="193852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2: Sub-30k vehicles consistently sell above MMR  |  Target ≥30% of monthly acquisitions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92240" y="1682496"/>
            <a:ext cx="2194560" cy="4754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691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+$30,000/mo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0040" y="2313432"/>
            <a:ext cx="8503920" cy="649224"/>
          </a:xfrm>
          <a:prstGeom prst="rect">
            <a:avLst/>
          </a:prstGeom>
          <a:solidFill>
            <a:srgbClr val="F4F6F8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313432"/>
            <a:ext cx="914400" cy="64922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514600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371600" y="2377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— Implement Seasonal Acquisition Timing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266090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5: Jun–Jul avg $16,700+ vs Dec–Apr avg $10,300–$11,200  |  Source in Q4/Q1, retail in summer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92240" y="2404872"/>
            <a:ext cx="2194560" cy="4754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41401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+$50,000/yr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0040" y="3035808"/>
            <a:ext cx="8503920" cy="649224"/>
          </a:xfrm>
          <a:prstGeom prst="rect">
            <a:avLst/>
          </a:prstGeom>
          <a:solidFill>
            <a:srgbClr val="F4F6F8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035808"/>
            <a:ext cx="914400" cy="649224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236976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371600" y="309981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— Execute Geographic Arbitrage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71600" y="338328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6: Ontario / TN / CO show above-average price-to-MMR  |  Source low, transport to premium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492240" y="3127248"/>
            <a:ext cx="2194560" cy="475488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13639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+$84,000/yr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20040" y="3758184"/>
            <a:ext cx="8503920" cy="649224"/>
          </a:xfrm>
          <a:prstGeom prst="rect">
            <a:avLst/>
          </a:prstGeom>
          <a:solidFill>
            <a:srgbClr val="F4F6F8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758184"/>
            <a:ext cx="914400" cy="649224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959352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371600" y="38221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 — Automate Condition-Based Pricing Alerts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371600" y="410565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3: Condition tier drives $2k–$3.5k variation  |  Integrate condition score into DMS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492240" y="3849624"/>
            <a:ext cx="2194560" cy="475488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38587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+$96,000/yr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20040" y="4690872"/>
            <a:ext cx="8503920" cy="36576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70001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Annual Impact Estimate:   ~$914,000 / year   |   3-rooftop dealer group, 100 units/month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9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1887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Make the Decision Easy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58952"/>
          <a:ext cx="5577840" cy="3749040"/>
        </p:xfrm>
        <a:graphic>
          <a:graphicData uri="http://schemas.openxmlformats.org/drawingml/2006/table">
            <a:tbl>
              <a:tblPr/>
              <a:tblGrid>
                <a:gridCol w="3108960"/>
                <a:gridCol w="1234440"/>
                <a:gridCol w="1234440"/>
              </a:tblGrid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5D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 — MMR-Anchored Bids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+$27,000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+$324,000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5D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 — Low-Mileage Sourcing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+$360,000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5D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 — Seasonal Timing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+$4,050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+$50,000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5D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 — Geographic Arbitrage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+$7,000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+$84,000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5D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 — Condition Automation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+$8,000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+$96,000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+$76,050 / 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+$914,000 / yr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080760" y="758952"/>
            <a:ext cx="2743200" cy="2423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199632" y="850392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Act NOW?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199632" y="1243584"/>
            <a:ext cx="250545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dealer groups already deploy AI-assisted bidding.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auctions compress traditional price-information advantages.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exists. The model is built. The only variable is the decision to act.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080760" y="3310128"/>
            <a:ext cx="2743200" cy="1188720"/>
          </a:xfrm>
          <a:prstGeom prst="rect">
            <a:avLst/>
          </a:prstGeom>
          <a:solidFill>
            <a:srgbClr val="263454"/>
          </a:solidFill>
          <a:ln w="6350">
            <a:solidFill>
              <a:srgbClr val="2E40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99632" y="3383280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99632" y="3648456"/>
            <a:ext cx="25054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vehicle acquisitions / month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acquisition cost: $13,500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3-rooftop dealer group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0040" y="4663440"/>
            <a:ext cx="55778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4681728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Inaction: ~$76,000/month in recoverable gross profit left on the table.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1887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Know, What We Don't, and What Comes Next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20040" y="758952"/>
            <a:ext cx="416052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758952"/>
            <a:ext cx="4160520" cy="38404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95528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" y="1298448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2014–2015 only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572768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adoption, COVID-era shocks, and interest rate cycles are not captured. Findings need re-validation on current data before operational deployment.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" y="2212848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auction data only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487168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insights apply to the auction floor. Retail consumer prices carry 10–25% dealer margins — a separate model is needed for consumer recommendations.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3127248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has limits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3401568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Depreciation is non-linear (especially years 0–5). A tree-based model (XGBoost, Random Forest) would improve accuracy in edge cases and luxury segments.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4041648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sample skew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4315968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CA, FL, TX dominate transaction volume. States with fewer than 1,000 records should be interpreted with caution at state level.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758952"/>
            <a:ext cx="416052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758952"/>
            <a:ext cx="4160520" cy="38404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795528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Built Next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18888" y="1298448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Pricing API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18888" y="1572768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make, model, year, mileage, condition. Output: predicted price range with confidence interval — on the buyer's mobile at auction.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18888" y="2212848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Price Model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18888" y="2487168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linear regression. Expected to reduce RMSE from $1,180 to under $700, especially for luxury and near-antique segments.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18888" y="3127248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Tableau Dashboard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18888" y="3401568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 real-time data feed — replace the static 2014–2015 snapshot with continuously updating market intelligence.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18888" y="4041648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Wholesale-to-Retail Model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18888" y="4315968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AutoTrader / CarGurus retail prices to build the complete wholesale-to-retail margin model — the full dealer P&amp;L picture.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690872"/>
            <a:ext cx="8503920" cy="36576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70001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is built. The model is proven. The next step turns this from an analysis into a product.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9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188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 Team That Understood Every Slide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566928"/>
            <a:ext cx="8503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  |  Newton School of Technology  |  DVA Capstone 2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914400"/>
                <a:gridCol w="777240"/>
                <a:gridCol w="1051560"/>
                <a:gridCol w="749808"/>
                <a:gridCol w="749808"/>
                <a:gridCol w="74066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&amp;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ETL &amp;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 &amp;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Tableau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Abhinav Bajpai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2401010017 | Project Lead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EC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EC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EC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EC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EC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Kushagra Bhardwaj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2401010247 | ETL Lead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EC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EC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EC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Rishiwant K. Maurya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2401020102 | Analysis Lead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EC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EC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EC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Pranav Singh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2401010333 | Visualization Lead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EC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EC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EC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EC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Samriddhi Shah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2401010411 | Strategy Lead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EC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EC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EC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EC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5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Drishti Jha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2401010162 | PPT &amp; Quality Lead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EC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EC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EC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422452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Declaration: We confirm all contributions are accurate and verifiable through GitHub Insights, PR history, and submitted artifacts.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algn="ctr" indent="0" marL="0">
              <a:buNone/>
            </a:pPr>
            <a:r>
              <a:rPr lang="en-US" sz="1000" b="1" u="sng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github.com/Abhinavbajpai30/SectionB_TeamG4_JudgingACarByItsCover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All notebooks committed and version-controlled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Judging a Car by its Cover</dc:title>
  <dc:subject>PptxGenJS Presentation</dc:subject>
  <dc:creator>Group 4 — Newton School of Technology</dc:creator>
  <cp:lastModifiedBy>Group 4 — Newton School of Technology</cp:lastModifiedBy>
  <cp:revision>1</cp:revision>
  <dcterms:created xsi:type="dcterms:W3CDTF">2026-04-29T21:50:37Z</dcterms:created>
  <dcterms:modified xsi:type="dcterms:W3CDTF">2026-04-29T21:50:37Z</dcterms:modified>
</cp:coreProperties>
</file>