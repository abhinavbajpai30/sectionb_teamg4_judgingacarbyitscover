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C2951"/>
                </a:solidFill>
                <a:latin typeface="Arial"/>
              </a:defRPr>
            </a:pPr>
            <a:r>
              <a:rPr sz="1000" b="0" i="0" u="none" strike="noStrike">
                <a:solidFill>
                  <a:srgbClr val="1C2951"/>
                </a:solidFill>
                <a:latin typeface="Arial"/>
              </a:rPr>
              <a:t>Price vs MMR Benchmark ($)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1C2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A4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295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Avg Selling Price</c:v>
                  </c:pt>
                  <c:pt idx="1">
                    <c:v>Avg MMR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13493</c:v>
                </c:pt>
                <c:pt idx="1">
                  <c:v>13700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A4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00"/>
          <c:min val="13000"/>
        </c:scaling>
        <c:delete val="0"/>
        <c:axPos val="l"/>
        <c:majorGridlines>
          <c:spPr>
            <a:ln w="5080" cap="flat">
              <a:solidFill>
                <a:srgbClr val="D5D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8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850" b="0" i="0" u="none" strike="noStrike">
                <a:solidFill>
                  <a:srgbClr val="1C2951"/>
                </a:solidFill>
                <a:latin typeface="Arial"/>
              </a:defRPr>
            </a:pPr>
            <a:r>
              <a:rPr sz="850" b="0" i="0" u="none" strike="noStrike">
                <a:solidFill>
                  <a:srgbClr val="1C2951"/>
                </a:solidFill>
                <a:latin typeface="Arial"/>
              </a:rPr>
              <a:t>Feature Importance (Pearson 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4A4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A4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4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4A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4A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C295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Vehicle Age</c:v>
                  </c:pt>
                  <c:pt idx="1">
                    <c:v>Condition</c:v>
                  </c:pt>
                  <c:pt idx="2">
                    <c:v>Odometer</c:v>
                  </c:pt>
                  <c:pt idx="3">
                    <c:v>MMR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0.21</c:v>
                </c:pt>
                <c:pt idx="1">
                  <c:v>0.36</c:v>
                </c:pt>
                <c:pt idx="2">
                  <c:v>0.52</c:v>
                </c:pt>
                <c:pt idx="3">
                  <c:v>0.97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A4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bhinavbajpai30/SectionB_TeamG4_JudgingACarByItsCover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bhinavbajpai30/SectionB_TeamG4_JudgingACarByItsCover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9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0"/>
            <a:ext cx="2194560" cy="5143500"/>
          </a:xfrm>
          <a:prstGeom prst="rect">
            <a:avLst/>
          </a:prstGeom>
          <a:solidFill>
            <a:srgbClr val="C0392B">
              <a:alpha val="18000"/>
            </a:srgbClr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82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School of Technology  |  DVA Capstone 2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62179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 Car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its Cover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Vehicle Pricing Intelligence  —  Automotive Retail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108960"/>
            <a:ext cx="5943600" cy="27432"/>
          </a:xfrm>
          <a:prstGeom prst="rect">
            <a:avLst/>
          </a:prstGeom>
          <a:solidFill>
            <a:srgbClr val="D5D8DC"/>
          </a:solidFill>
          <a:ln w="12700">
            <a:solidFill>
              <a:srgbClr val="D5D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2461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ID: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36118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Sector: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Retail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Institute: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School of Technology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43434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11880" y="32461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Satyaki Das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1188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Bajpai · Bhardwaj · Maurya · Singh · Shah · Jha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11880" y="39776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 </a:t>
            </a:r>
            <a:pPr indent="0" marL="0">
              <a:buNone/>
            </a:pPr>
            <a:r>
              <a:rPr lang="en-US" sz="950" u="sng" dirty="0">
                <a:solidFill>
                  <a:srgbClr val="7EC8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github.com/Abhinavbajpai30/SectionB_TeamG4_JudgingACarByItsCover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11880" y="43434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Submitted: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April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Minute at Auction, Dealers Are Guessing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3566160" cy="39776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100584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$840B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365760" y="17373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American Used Vehicle Market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5840" y="2148840"/>
            <a:ext cx="2286000" cy="228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240280"/>
            <a:ext cx="3566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40M+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" y="28803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transacted annually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005840" y="3218688"/>
            <a:ext cx="2286000" cy="228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310128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558,675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65760" y="38404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transactions analysed in this project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60520" y="868680"/>
            <a:ext cx="466344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60520" y="868680"/>
            <a:ext cx="54864" cy="118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3400" y="96012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43400" y="1252728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 auctions power the used-vehicle supply chain. Dealers must price in seconds. A 3–5% acquisition error erases all front-end gross profit on the retail sale.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60520" y="2176272"/>
            <a:ext cx="466344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60520" y="2176272"/>
            <a:ext cx="54864" cy="118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226771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Decision-Maker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43400" y="2560320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Auction buyers, pricing managers, and remarketing directors at franchised and independent dealerships — evaluating hundreds of vehicles per week.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60520" y="3483864"/>
            <a:ext cx="466344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160520" y="3483864"/>
            <a:ext cx="54864" cy="118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43400" y="3575304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Business Question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43400" y="3867912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vehicle and market attributes predict whether a car sells above or below its MMR benchmark — and by exactly how much?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160520" y="4690872"/>
            <a:ext cx="4663440" cy="365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6240" y="4700016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Build a pricing model so dealers stop guessing and start winning.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558,675 Transactions — Cleaned, Enriched, and Analysis-Ready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783080" cy="914400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86868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152144"/>
            <a:ext cx="178308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558,837 rows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columns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2014–2015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286000" y="1261872"/>
            <a:ext cx="320040" cy="0"/>
          </a:xfrm>
          <a:prstGeom prst="line">
            <a:avLst/>
          </a:prstGeom>
          <a:noFill/>
          <a:ln w="25400">
            <a:solidFill>
              <a:srgbClr val="1C2951"/>
            </a:solidFill>
            <a:prstDash val="solid"/>
            <a:tailEnd type="arrow"/>
          </a:ln>
        </p:spPr>
      </p:sp>
      <p:sp>
        <p:nvSpPr>
          <p:cNvPr id="7" name="Shape 5"/>
          <p:cNvSpPr/>
          <p:nvPr/>
        </p:nvSpPr>
        <p:spPr>
          <a:xfrm>
            <a:off x="2651760" y="804672"/>
            <a:ext cx="1783080" cy="914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51760" y="86868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51760" y="1152144"/>
            <a:ext cx="178308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removed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Nulls imputed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capped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480560" y="1261872"/>
            <a:ext cx="320040" cy="0"/>
          </a:xfrm>
          <a:prstGeom prst="line">
            <a:avLst/>
          </a:prstGeom>
          <a:noFill/>
          <a:ln w="25400">
            <a:solidFill>
              <a:srgbClr val="1C2951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4846320" y="804672"/>
            <a:ext cx="1783080" cy="9144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0" y="86868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152144"/>
            <a:ext cx="178308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new features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vehicle_age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price_deviation%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675120" y="1261872"/>
            <a:ext cx="320040" cy="0"/>
          </a:xfrm>
          <a:prstGeom prst="line">
            <a:avLst/>
          </a:prstGeom>
          <a:noFill/>
          <a:ln w="25400">
            <a:solidFill>
              <a:srgbClr val="1C2951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7040880" y="804672"/>
            <a:ext cx="1783080" cy="91440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40880" y="86868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40880" y="1152144"/>
            <a:ext cx="178308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columns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ML-ready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Tableau-ready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1920240"/>
            <a:ext cx="265176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1920240"/>
            <a:ext cx="265176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0116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2359152"/>
            <a:ext cx="2423160" cy="1847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Manheim Used Vehicle Sales (Kaggle, CC0 licence)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558,837 rows × 16 columns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2014–2015 | US + Canadian provinces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fields: sellingprice, MMR, odometer, condition, make,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383280" y="1920240"/>
            <a:ext cx="265176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383280" y="1920240"/>
            <a:ext cx="265176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0440" y="20116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ETL — 3 Major Steps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93008" y="2359152"/>
            <a:ext cx="2423160" cy="1847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values: Transmission (11.69%) — stratified mode per make × body group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treatment: IQR winsorisation (2.5×) on price, MMR, odometer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parsing: Custom regex to handle non-standard GMT auction timestamps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rows removed (pre-1990 or price ≤ 0)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309360" y="1920240"/>
            <a:ext cx="265176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09360" y="1920240"/>
            <a:ext cx="265176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20116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— 13 New Columns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19088" y="2359152"/>
            <a:ext cx="2423160" cy="1847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vehicle_age: Age at time of sale (years)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price_deviation_pct: (price − MMR) / MMR × 100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odometer_bucket: 0-30k / 30-60k / 60-100k / 100-150k / 150k+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condition_tier: Poor / Fair / Good / Excellent (quartile-based)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65760" y="488289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notebooks/01_extraction.ipynb  |  notebooks/02_cleaning.ipynb  — committed to GitHub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KPIs That Tell the Complete Pricing Story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in notebooks/05_final_load_prep.ipynb — exported as KPI CSVs for Tableau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084832" cy="96012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05840"/>
            <a:ext cx="20848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558,675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536192"/>
            <a:ext cx="2084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Transactions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578608" y="914400"/>
            <a:ext cx="2084832" cy="9601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78608" y="1005840"/>
            <a:ext cx="20848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$7.54B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578608" y="1536192"/>
            <a:ext cx="2084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Market Volume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91456" y="914400"/>
            <a:ext cx="2084832" cy="96012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91456" y="1005840"/>
            <a:ext cx="20848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$13,493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791456" y="1536192"/>
            <a:ext cx="2084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Selling Price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004304" y="914400"/>
            <a:ext cx="2084832" cy="960120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004304" y="1005840"/>
            <a:ext cx="20848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$13,700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7004304" y="1536192"/>
            <a:ext cx="2084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MMR Benchmark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65760" y="1993392"/>
            <a:ext cx="2084832" cy="91440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5760" y="2057400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−1.18%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65760" y="2596896"/>
            <a:ext cx="2084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Price vs MMR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578608" y="1993392"/>
            <a:ext cx="2084832" cy="91440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78608" y="2057400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46.8%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2578608" y="2596896"/>
            <a:ext cx="2084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Sold Above MMR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91456" y="1993392"/>
            <a:ext cx="2084832" cy="91440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791456" y="2057400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0.97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4791456" y="2596896"/>
            <a:ext cx="2084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MMR Correlation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004304" y="1993392"/>
            <a:ext cx="2084832" cy="91440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004304" y="2057400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98.6%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004304" y="2596896"/>
            <a:ext cx="2084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Realisation Rate</a:t>
            </a:r>
            <a:endParaRPr lang="en-US" sz="8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365760" y="3035808"/>
          <a:ext cx="38404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Shape 26"/>
          <p:cNvSpPr/>
          <p:nvPr/>
        </p:nvSpPr>
        <p:spPr>
          <a:xfrm>
            <a:off x="4389120" y="3035808"/>
            <a:ext cx="4389120" cy="19202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4526280" y="312724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Tension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4526280" y="3493008"/>
            <a:ext cx="411480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price sits $207 below MMR.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46.8% of deals beat the benchmark.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beats MMR and why?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question this project answers.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9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Findings That Change How You Price a Used Car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320040" y="548640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558,675 real transactions — here is what the data actually says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206240" cy="132588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14984"/>
            <a:ext cx="594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87552" y="1024128"/>
            <a:ext cx="3364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MMR is the pricing truth — not a suggestion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87552" y="1453896"/>
            <a:ext cx="3364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0.97 with selling price — explains 94% of all price variance. Any bid that ignores MMR is statistically guaranteed to be wrong.</a:t>
            </a:r>
            <a:endParaRPr lang="en-US" sz="880" dirty="0"/>
          </a:p>
        </p:txBody>
      </p:sp>
      <p:sp>
        <p:nvSpPr>
          <p:cNvPr id="8" name="Text 6"/>
          <p:cNvSpPr/>
          <p:nvPr/>
        </p:nvSpPr>
        <p:spPr>
          <a:xfrm>
            <a:off x="365760" y="2130552"/>
            <a:ext cx="12801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eda_11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206240" cy="132588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014984"/>
            <a:ext cx="594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376672" y="1024128"/>
            <a:ext cx="3364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10,000 miles costs ~$430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376672" y="1453896"/>
            <a:ext cx="3364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Odometer vs price r = −0.62. A vehicle at 80k miles should be bid $2,150 below a 30k-mile equivalent. Same MMR does not mean same value.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4754880" y="2130552"/>
            <a:ext cx="12801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eda_05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74320" y="2377440"/>
            <a:ext cx="4206240" cy="132588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432304"/>
            <a:ext cx="594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87552" y="2441448"/>
            <a:ext cx="3364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score is worth $2,000–$3,500 in real dollars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87552" y="2871216"/>
            <a:ext cx="3364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Excellent-condition vehicles command a $2,000–$3,500 premium over Poor/Fair at identical mileage. The grader's score is a pricing input, not a formality.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365760" y="3547872"/>
            <a:ext cx="12801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eda_02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663440" y="2377440"/>
            <a:ext cx="4206240" cy="132588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432304"/>
            <a:ext cx="594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5376672" y="2441448"/>
            <a:ext cx="3364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transmission commands a proven premium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376672" y="2871216"/>
            <a:ext cx="3364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t-test p &lt; 0.001 confirms automatics sell significantly higher than manuals. Not intuition — statistically proven at 558k observations.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4754880" y="3547872"/>
            <a:ext cx="12801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stat_04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74320" y="3749040"/>
            <a:ext cx="4206240" cy="132588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803904"/>
            <a:ext cx="594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87552" y="3813048"/>
            <a:ext cx="3364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in August, sell in April — 2–4% seasonal swing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87552" y="4242816"/>
            <a:ext cx="3364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peak March–April (tax refund season) and soften August–September. Aligning acquisition timing to the trough captures extra margin before Q4 recovery.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365760" y="4919472"/>
            <a:ext cx="12801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eda_08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63440" y="3749040"/>
            <a:ext cx="4206240" cy="132588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3803904"/>
            <a:ext cx="594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5376672" y="3813048"/>
            <a:ext cx="3364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Ontario, Tennessee and Colorado are premium markets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376672" y="4242816"/>
            <a:ext cx="3364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states show above-average price-to-MMR ratios. Source from low-price states, retail in premium markets — the arbitrage covers logistics cost.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4754880" y="4919472"/>
            <a:ext cx="12801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eda_07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1887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EDA: We Tested, Modelled, and Segmented the Market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274320" y="749808"/>
            <a:ext cx="2743200" cy="4224528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749808"/>
            <a:ext cx="2743200" cy="5486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46120" y="749808"/>
            <a:ext cx="2743200" cy="4224528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46120" y="749808"/>
            <a:ext cx="27432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749808"/>
            <a:ext cx="2743200" cy="4224528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17920" y="749808"/>
            <a:ext cx="2743200" cy="5486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4124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Model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11556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MMR + 3 Factors = 94% Accuracy</a:t>
            </a:r>
            <a:endParaRPr lang="en-US" sz="9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20040" y="1444752"/>
          <a:ext cx="26517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411480" y="3200400"/>
            <a:ext cx="2468880" cy="1664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 ≈  $1,180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  ≈  $740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Library: scikit-learn, statsmodels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383280" y="84124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Testing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383280" y="111556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Assumptions — All Statistically Confirmed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383280" y="1508760"/>
            <a:ext cx="24688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93008" y="1563624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Automatics sell higher than manuals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493008" y="1947672"/>
            <a:ext cx="22494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t-test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493008" y="2148840"/>
            <a:ext cx="22494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H0  |  p &lt; 0.001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383280" y="2514600"/>
            <a:ext cx="24688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93008" y="2569464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Luxury beats non-luxury price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3493008" y="2953512"/>
            <a:ext cx="22494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493008" y="3154680"/>
            <a:ext cx="22494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H0  |  p &lt; 0.001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383280" y="3520440"/>
            <a:ext cx="24688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493008" y="3575304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Condition tier drives price differences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3493008" y="3959352"/>
            <a:ext cx="22494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ANOVA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3493008" y="4160520"/>
            <a:ext cx="22494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H0  |  F = 8,420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3383280" y="4800600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Library: scipy.stats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355080" y="84124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Segmentation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355080" y="111556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Distinct Market Segments (k=4, elbow method)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6309360" y="1508760"/>
            <a:ext cx="54864" cy="658368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73952" y="15453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Fleet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73952" y="178308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1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$4k–$9k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473952" y="196596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mileage · Age 8–15 yrs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309360" y="2286000"/>
            <a:ext cx="54864" cy="65836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73952" y="23225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Mid-Range Value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6473952" y="25603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$9k–$16k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473952" y="274320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mi · Age 4–8 yrs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6309360" y="3063240"/>
            <a:ext cx="54864" cy="6583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73952" y="309981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Late-Model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6473952" y="333756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$16k–$28k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6473952" y="352044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mileage · Age 2–5 yrs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309360" y="3840480"/>
            <a:ext cx="54864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473952" y="38770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Low-Mile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6473952" y="411480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$28k+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473952" y="429768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Near-new · &lt;20k miles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6309360" y="4773168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04_statistical_analysis.ipynb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Dashboards. One for Every Decision-Maker.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804672"/>
            <a:ext cx="690372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804672"/>
            <a:ext cx="777240" cy="120700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133856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70432" y="877824"/>
            <a:ext cx="589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Pricing Overview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1152144"/>
            <a:ext cx="5897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CEO  |  VP Remarketing  |  Finance Director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70432" y="1371600"/>
            <a:ext cx="589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Views: KPI banner + Monthly price vs MMR trend line + Top 10 makes by price + Deviation gauge by body style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70432" y="1700784"/>
            <a:ext cx="5897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Year  |  Make  |  Body Style  |  State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130552"/>
            <a:ext cx="690372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130552"/>
            <a:ext cx="777240" cy="1207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459736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170432" y="2203704"/>
            <a:ext cx="589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Pricing Drill-Down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2478024"/>
            <a:ext cx="5897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Auction Buyers  |  Pricing Analysts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70432" y="2697480"/>
            <a:ext cx="589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Views: Scatter: sellingprice vs MMR (filterable) + Box plots by odometer bucket + Filled state heat map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70432" y="3026664"/>
            <a:ext cx="5897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Make  |  Model  |  Year Range  |  Mileage Band  |  Condition Tier  |  Transmission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3456432"/>
            <a:ext cx="690372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456432"/>
            <a:ext cx="777240" cy="12070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3785616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70432" y="3529584"/>
            <a:ext cx="589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&amp; Segmentation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3803904"/>
            <a:ext cx="5897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Fleet Managers  |  Remarketing Directors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70432" y="4023360"/>
            <a:ext cx="589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Views: K-Means segment treemap + Regional deviation map (red = below / green = above MMR) + Seasonal trend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70432" y="4352544"/>
            <a:ext cx="5897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Segment  |  Year  |  State  |  Condition Tier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406640" y="804672"/>
            <a:ext cx="1463040" cy="390448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52360" y="914400"/>
            <a:ext cx="13716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Cross-Filter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make — all views update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LOD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KPIs at any filter state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Map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= below MMR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above MMR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4320" y="4709160"/>
            <a:ext cx="859536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718304"/>
            <a:ext cx="8503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Public URL: Available on request from the project team.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914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Actions. ~$914,000 in Recoverable Annual Gross Profit.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320040" y="530352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recommendation traces directly to a finding from the analysis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03920" cy="649224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914400" cy="64922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69848"/>
            <a:ext cx="914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371600" y="93268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— Adopt MMR-Anchored Bid Pricing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121615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1: MMR r=0.97  |  Bid = MMR × (1 + mileage_adj + condition_adj + make_adj)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96926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+$27,000/mo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0040" y="1591056"/>
            <a:ext cx="8503920" cy="649224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1591056"/>
            <a:ext cx="914400" cy="64922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792224"/>
            <a:ext cx="914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371600" y="16550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— Prioritise Low-Mileage Sourcing (0–30k miles)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71600" y="193852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2: Sub-30k vehicles consistently sell above MMR  |  Target ≥30% of monthly acquisitions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92240" y="1682496"/>
            <a:ext cx="2194560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+$30,000/mo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20040" y="2313432"/>
            <a:ext cx="8503920" cy="649224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313432"/>
            <a:ext cx="914400" cy="64922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514600"/>
            <a:ext cx="914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371600" y="23774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— Implement Seasonal Acquisition Timing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71600" y="2660904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5: Aug–Sep prices soften 2–4%  |  Front-load Q3 acquisition, retail in Q1–Q2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492240" y="2404872"/>
            <a:ext cx="2194560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414016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+$50,000/yr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20040" y="3035808"/>
            <a:ext cx="8503920" cy="649224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3035808"/>
            <a:ext cx="914400" cy="649224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236976"/>
            <a:ext cx="914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371600" y="309981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— Execute Geographic Arbitrage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71600" y="338328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6: Ontario / TN / CO show above-average price-to-MMR  |  Source low, transport to premium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492240" y="3127248"/>
            <a:ext cx="2194560" cy="475488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313639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+$84,000/yr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0040" y="3758184"/>
            <a:ext cx="8503920" cy="649224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20040" y="3758184"/>
            <a:ext cx="914400" cy="649224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3959352"/>
            <a:ext cx="914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371600" y="382219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 — Automate Condition-Based Pricing Alerts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371600" y="4105656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3: Condition tier drives $2k–$3.5k variation  |  Integrate condition score into DMS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492240" y="3849624"/>
            <a:ext cx="2194560" cy="475488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92240" y="385876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+$96,000/yr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320040" y="4690872"/>
            <a:ext cx="8503920" cy="36576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700016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Annual Impact Estimate:   ~$914,000 / year   |   3-rooftop dealer group, 100 units/month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29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1887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Make the Decision Easy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758952"/>
          <a:ext cx="5577840" cy="3749040"/>
        </p:xfrm>
        <a:graphic>
          <a:graphicData uri="http://schemas.openxmlformats.org/drawingml/2006/table">
            <a:tbl>
              <a:tblPr/>
              <a:tblGrid>
                <a:gridCol w="3108960"/>
                <a:gridCol w="1234440"/>
                <a:gridCol w="1234440"/>
              </a:tblGrid>
              <a:tr h="5355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5D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 — MMR-Anchored Bids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+$27,000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+$324,000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5D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— Low-Mileage Sourcing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+$30,000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+$360,000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5D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 — Seasonal 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+$4,050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+$50,000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5D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 — Geographic Arbitrage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+$7,000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+$84,000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5D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 — Condition 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+$8,000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+$96,000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+$76,050 / 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+$914,000 / yr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080760" y="758952"/>
            <a:ext cx="2743200" cy="24231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6199632" y="850392"/>
            <a:ext cx="2505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Act NOW?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199632" y="1243584"/>
            <a:ext cx="250545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dealer groups already deploy AI-assisted bidding.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auctions compress traditional price-information advantages.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exists. The model is built. The only variable is the decision to act.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080760" y="3310128"/>
            <a:ext cx="2743200" cy="118872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99632" y="3383280"/>
            <a:ext cx="25054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199632" y="3648456"/>
            <a:ext cx="2505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vehicle acquisitions / month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acquisition cost: $13,500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3-rooftop dealer group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0040" y="4663440"/>
            <a:ext cx="557784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" y="4681728"/>
            <a:ext cx="5440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Inaction: ~$76,000/month in recoverable gross profit left on the table.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1887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Know, What We Don't, and What Comes Next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20040" y="758952"/>
            <a:ext cx="416052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758952"/>
            <a:ext cx="4160520" cy="384048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95528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" y="12984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2014–2015 only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5727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adoption, COVID-era shocks, and interest rate cycles are not captured. Findings need re-validation on current data before operational deployment.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75488" y="22128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 auction data only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" y="24871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insights apply to the auction floor. Retail consumer prices carry 10–25% dealer margins — a separate model is needed for consumer recommendations.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75488" y="31272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has limits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34015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Depreciation is non-linear (especially years 0–5). A tree-based model (XGBoost, Random Forest) would improve accuracy in edge cases and luxury segments.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" y="40416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sample skew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" y="43159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CA, FL, TX dominate transaction volume. States with fewer than 1,000 records should be interpreted with caution at state level.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758952"/>
            <a:ext cx="416052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758952"/>
            <a:ext cx="4160520" cy="38404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795528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 Next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18888" y="12984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Pricing API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18888" y="15727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make, model, year, mileage, condition. Output: predicted price range with confidence interval — on the buyer's mobile at auction.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18888" y="22128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Price Model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18888" y="24871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linear regression. Expected to reduce RMSE from $1,180 to under $700, especially for luxury and near-antique segments.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18888" y="31272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Tableau Dashboard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18888" y="34015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a real-time data feed — replace the static 2014–2015 snapshot with continuously updating market intelligence.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18888" y="40416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Wholesale-to-Retail Model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18888" y="43159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AutoTrader / CarGurus retail prices to build the complete wholesale-to-retail margin model — the full dealer P&amp;L picture.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4690872"/>
            <a:ext cx="8503920" cy="36576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700016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is built. The model is proven. The next step turns this from an analysis into a product.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9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18872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Team That Understood Every Slide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20040" y="566928"/>
            <a:ext cx="85039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  |  Newton School of Technology  |  DVA Capstone 2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1440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914400"/>
                <a:gridCol w="914400"/>
                <a:gridCol w="777240"/>
                <a:gridCol w="1051560"/>
                <a:gridCol w="749808"/>
                <a:gridCol w="749808"/>
                <a:gridCol w="74066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Member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&amp;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ETL &amp;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EDA &amp;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Tableau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Abhinav Bajpai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2401010017 | Project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Kushagra Bhardwaj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2401010247 | ETL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Rishiwant K. Maurya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2401020102 | Analysis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Pranav Singh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2401010333 | Visualization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Samriddhi Shah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2401010411 | Strategy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Drishti Jha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2401010162 | PPT &amp; Quality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20040" y="4224528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Declaration: We confirm all contributions are accurate and verifiable through GitHub Insights, PR history, and submitted artifacts.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320040" y="4663440"/>
            <a:ext cx="850392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468172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pPr algn="ctr" indent="0" marL="0">
              <a:buNone/>
            </a:pPr>
            <a:r>
              <a:rPr lang="en-US" sz="1000" b="1" u="sng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github.com/Abhinavbajpai30/SectionB_TeamG4_JudgingACarByItsCover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|     All notebooks committed and version-controlled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Judging a Car by its Cover</dc:title>
  <dc:subject>PptxGenJS Presentation</dc:subject>
  <dc:creator>Group 4 — Newton School of Technology</dc:creator>
  <cp:lastModifiedBy>Group 4 — Newton School of Technology</cp:lastModifiedBy>
  <cp:revision>1</cp:revision>
  <dcterms:created xsi:type="dcterms:W3CDTF">2026-04-29T16:00:05Z</dcterms:created>
  <dcterms:modified xsi:type="dcterms:W3CDTF">2026-04-29T16:00:05Z</dcterms:modified>
</cp:coreProperties>
</file>