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C2951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C2951"/>
                </a:solidFill>
                <a:latin typeface="Arial"/>
              </a:rPr>
              <a:t>Price vs MMR Benchmark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C29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A4A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295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Avg Selling Price</c:v>
                  </c:pt>
                  <c:pt idx="1">
                    <c:v>Avg MMR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13493</c:v>
                </c:pt>
                <c:pt idx="1">
                  <c:v>13700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A4A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0"/>
          <c:min val="13000"/>
        </c:scaling>
        <c:delete val="0"/>
        <c:axPos val="l"/>
        <c:majorGridlines>
          <c:spPr>
            <a:ln w="5080" cap="flat">
              <a:solidFill>
                <a:srgbClr val="D5D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4F6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bhinavbajpai30/SectionB_TeamG4_JudgingACarByItsCover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bhinavbajpai30/SectionB_TeamG4_JudgingACarByItsCover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82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School of Technology  |  DVA Capstone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62179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Car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its Cover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6217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Vehicle Pricing Intelligence  —  Automotive Retail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5943600" cy="27432"/>
          </a:xfrm>
          <a:prstGeom prst="rect">
            <a:avLst/>
          </a:prstGeom>
          <a:solidFill>
            <a:srgbClr val="D5D8DC"/>
          </a:solidFill>
          <a:ln w="12700">
            <a:solidFill>
              <a:srgbClr val="D5D8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46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Retail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School of Technology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3434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Satyaki Das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11880" y="361188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 </a:t>
            </a:r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Abhinav Bajpai · Kushagra Bhardwaj · Rishiwant K. Maurya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Pranav Singh · Samriddhi Shah · Drishti Jha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3611880" y="4160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pPr indent="0" marL="0">
              <a:buNone/>
            </a:pPr>
            <a:r>
              <a:rPr lang="en-US" sz="950" u="sng" dirty="0">
                <a:solidFill>
                  <a:srgbClr val="7EC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github.com/Abhinavbajpai30/SectionB_TeamG4_JudgingACarByItsCover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11880" y="4526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Submitted: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April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Minute at Auction, Dealers Are Guessing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3566160" cy="39776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00584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$840B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65760" y="17373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American Used Vehicle Market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5840" y="2148840"/>
            <a:ext cx="2286000" cy="228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240280"/>
            <a:ext cx="3566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40M+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880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transacted annually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05840" y="3218688"/>
            <a:ext cx="2286000" cy="228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310128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548,486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65760" y="3840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transactions analysed in this project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60520" y="868680"/>
            <a:ext cx="466344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60520" y="868680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96012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43400" y="1252728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auctions power the used-vehicle supply chain. Dealers must price in seconds. A 3–5% acquisition error erases all front-end gross profit on the retail sale.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0520" y="2176272"/>
            <a:ext cx="466344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60520" y="2176272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22677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Decision-Maker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43400" y="2560320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buyers, pricing managers, and remarketing directors at franchised and independent dealerships — evaluating hundreds of vehicles per week.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60520" y="3483864"/>
            <a:ext cx="4663440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60520" y="3483864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3400" y="3575304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Business Question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43400" y="3867912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vehicle and market attributes predict whether a car sells above or below its MMR benchmark — and by exactly how much?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60520" y="4690872"/>
            <a:ext cx="4663440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470001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Build a pricing model so dealers stop guessing and start winning.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548,486 Transactions — Cleaned, Enriched, and Analysis-Ready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783080" cy="914400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558,837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yrs 1990–2015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0" y="1261872"/>
            <a:ext cx="320040" cy="0"/>
          </a:xfrm>
          <a:prstGeom prst="line">
            <a:avLst/>
          </a:prstGeom>
          <a:noFill/>
          <a:ln w="25400">
            <a:solidFill>
              <a:srgbClr val="1C2951"/>
            </a:solidFill>
            <a:prstDash val="solid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2651760" y="804672"/>
            <a:ext cx="1783080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5176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5176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10,351 removed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Nulls imputed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capped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480560" y="1261872"/>
            <a:ext cx="320040" cy="0"/>
          </a:xfrm>
          <a:prstGeom prst="line">
            <a:avLst/>
          </a:prstGeom>
          <a:noFill/>
          <a:ln w="25400">
            <a:solidFill>
              <a:srgbClr val="1C2951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4846320" y="804672"/>
            <a:ext cx="1783080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features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vehicle_age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price_deviation%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75120" y="1261872"/>
            <a:ext cx="320040" cy="0"/>
          </a:xfrm>
          <a:prstGeom prst="line">
            <a:avLst/>
          </a:prstGeom>
          <a:noFill/>
          <a:ln w="25400">
            <a:solidFill>
              <a:srgbClr val="1C2951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7040880" y="804672"/>
            <a:ext cx="1783080" cy="9144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0" y="868680"/>
            <a:ext cx="1783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40880" y="1152144"/>
            <a:ext cx="17830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columns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ML-ready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Tableau-ready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192024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1920240"/>
            <a:ext cx="265176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011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2359152"/>
            <a:ext cx="2423160" cy="1847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Manheim Used Vehicle Sales (Kaggle, CC0 licence)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558,837 rows × 16 columns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years 1990–2015 | Auction sales 2014–2015 | US + Canada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fields: sellingprice, MMR, odometer, condition, make, state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83280" y="192024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383280" y="1920240"/>
            <a:ext cx="265176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2011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ETL — 3 Major Steps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93008" y="2359152"/>
            <a:ext cx="2423160" cy="1847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values: Transmission (11.69%) — stratified mode per make × body group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treatment: IQR winsorisation (2.5×) on price, MMR, odometer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parsing: Custom regex to handle non-standard GMT auction timestamps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rows removed (pre-1990 or price ≤ 0)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1920240"/>
            <a:ext cx="26517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09360" y="1920240"/>
            <a:ext cx="265176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2011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— 13 New Columns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19088" y="2359152"/>
            <a:ext cx="2423160" cy="1847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vehicle_age: Age at time of sale (years)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price_deviation_pct: (price − MMR) / MMR × 100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odometer_bucket: 0-30k / 30-60k / 60-100k / 100-150k / 150k+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condition_tier: Poor / Fair / Good / Excellent (quartile-based)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65760" y="488289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notebooks/01_extraction.ipynb  |  notebooks/02_cleaning.ipynb  — committed to GitHub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KPIs That Tell the Complete Pricing Story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in notebooks/05_final_load_prep.ipynb — exported as KPI CSVs for Tableau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084832" cy="96012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548,486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78608" y="914400"/>
            <a:ext cx="2084832" cy="960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78608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$7.45B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78608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Market Volume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91456" y="914400"/>
            <a:ext cx="2084832" cy="96012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91456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$13,493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791456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Selling Price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004304" y="914400"/>
            <a:ext cx="2084832" cy="960120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04304" y="1005840"/>
            <a:ext cx="20848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$13,700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004304" y="153619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MMR Benchmark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−1.18%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65760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Price vs MMR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78608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78608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2578608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Sold Above MMR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91456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91456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0.97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791456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Correlation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004304" y="1993392"/>
            <a:ext cx="2084832" cy="914400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004304" y="2057400"/>
            <a:ext cx="20848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98.6%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004304" y="2596896"/>
            <a:ext cx="2084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Realisation Rate</a:t>
            </a:r>
            <a:endParaRPr lang="en-US" sz="8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365760" y="3035808"/>
          <a:ext cx="38404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4389120" y="3035808"/>
            <a:ext cx="4389120" cy="19202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4526280" y="312724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Tension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526280" y="3493008"/>
            <a:ext cx="411480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sits $207 below MMR.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46.8% of deals beat the benchmark.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beats MMR and why?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question this project answers.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Findings That Change How You Price a Used Car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320040" y="54864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548,486 real transactions — here is what the data actually says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1498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87552" y="102412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is the pricing truth — not a suggestion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87552" y="145389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0.97 with selling price — explains 94% of all price variance. Any bid that ignores MMR is statistically guaranteed to be wrong.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365760" y="213055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eda_11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01498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376672" y="102412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10,000 miles costs ~$430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376672" y="145389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Odometer vs price r = −0.62. A vehicle at 80k miles should be bid $2,150 below a 30k-mile equivalent. Same MMR does not mean same value.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4754880" y="213055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eda_05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4323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87552" y="24414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score is worth $2,000–$3,500 in real dollars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" y="28712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Excellent-condition vehicles command a $2,000–$3,500 premium over Poor/Fair at identical mileage. The grader's score is a pricing input, not a formality.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65760" y="35478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eda_02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63440" y="23774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4323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376672" y="24414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transmission commands a proven premium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376672" y="28712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 p &lt; 0.001 confirms automatics sell significantly higher than manuals. Not intuition — statistically proven at 558k observations.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754880" y="35478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stat_04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74320" y="37490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8039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87552" y="38130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is the peak — source in Q4 and Q1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87552" y="42428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Mid-year prices (Jun–Jul avg $16,700+) run significantly above Dec–Apr lows ($10,300–$11,200). Front-load acquisition in Q4/Q1 and retail in summer to capture the seasonal spread.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365760" y="49194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63440" y="3749040"/>
            <a:ext cx="4206240" cy="132588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3803904"/>
            <a:ext cx="594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5376672" y="3813048"/>
            <a:ext cx="33649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Ontario, Tennessee and Colorado are premium markets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76672" y="4242816"/>
            <a:ext cx="3364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states show above-average price-to-MMR ratios. Source from low-price states, retail in premium markets — the arbitrage covers logistics cost.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4754880" y="4919472"/>
            <a:ext cx="12801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ref: eda_07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the Assumptions — All Three Hold at 95% Confidence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20040" y="603504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hypothesis testing confirms that condition, mileage, and seasonality are not noise — they are statistically proven price drivers.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743200" cy="4041648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2743200" cy="5486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078992"/>
            <a:ext cx="475488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078992"/>
            <a:ext cx="475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107899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Tier Drives Price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57276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8745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44,299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11480" y="2395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743200"/>
            <a:ext cx="1828800" cy="310896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145536"/>
            <a:ext cx="2487168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 vehicle up one condition tier adds between $2,000 and $3,500 to its selling price. The effect is massive and consistent across all makes.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46120" y="960120"/>
            <a:ext cx="2743200" cy="4041648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46120" y="960120"/>
            <a:ext cx="27432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55848" y="1078992"/>
            <a:ext cx="475488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55848" y="1078992"/>
            <a:ext cx="475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04488" y="107899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Negatively Predicts Price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83280" y="157276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18745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−0.31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383280" y="2395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743200"/>
            <a:ext cx="1828800" cy="310896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83280" y="3145536"/>
            <a:ext cx="2487168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10,000 additional miles reduces selling price by approximately $430. This relationship is linear, consistent, and directly usable at the bid table.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960120"/>
            <a:ext cx="2743200" cy="4041648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960120"/>
            <a:ext cx="274320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1078992"/>
            <a:ext cx="475488" cy="3657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1078992"/>
            <a:ext cx="4754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76288" y="107899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Prices Exceed Q3 Prices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157276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55080" y="18745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12.4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355080" y="2395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2743200"/>
            <a:ext cx="1828800" cy="310896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5080" y="27432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5080" y="3145536"/>
            <a:ext cx="2487168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(Q2–Q3) prices significantly exceed Q4–Q1 lows. The seasonal swing is real and worth approximately $50,000/year when timed correctly.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20040" y="4919472"/>
            <a:ext cx="8503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tests run at α = 0.05  |  Library: scipy.stats  |  Notebook: 04_analysis.ipynb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Dashboards. One for Every Decision-Maker.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804672"/>
            <a:ext cx="690372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804672"/>
            <a:ext cx="777240" cy="120700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33856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70432" y="877824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Pricing Overview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1152144"/>
            <a:ext cx="5897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CEO  |  VP Remarketing  |  Finance Director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70432" y="1371600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KPI banner + Monthly price vs MMR trend line + Top 10 makes by price + Deviation gauge by body style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70432" y="1700784"/>
            <a:ext cx="5897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Year  |  Make  |  Body Style  |  State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130552"/>
            <a:ext cx="690372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130552"/>
            <a:ext cx="777240" cy="1207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459736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70432" y="2203704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Pricing Drill-Down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2478024"/>
            <a:ext cx="5897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Auction Buyers  |  Pricing Analysts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70432" y="2697480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Scatter: sellingprice vs MMR (filterable) + Box plots by odometer bucket + Filled state heat map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70432" y="3026664"/>
            <a:ext cx="5897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Make  |  Model  |  Year Range  |  Mileage Band  |  Condition Tier  |  Transmission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3456432"/>
            <a:ext cx="690372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456432"/>
            <a:ext cx="777240" cy="1207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785616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70432" y="3529584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&amp; Segmentation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3803904"/>
            <a:ext cx="5897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Fleet Managers  |  Remarketing Directors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70432" y="4023360"/>
            <a:ext cx="5897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Views: Price tier distribution + Regional deviation map (red = below / green = above MMR) + Seasonal trend line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70432" y="4352544"/>
            <a:ext cx="5897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Price Tier  |  Year  |  State  |  Condition Tier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406640" y="804672"/>
            <a:ext cx="1463040" cy="3904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2360" y="914400"/>
            <a:ext cx="1371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Cross-Filter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make — all views update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LOD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KPIs at any filter state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Map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below MMR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above MMR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" y="4709160"/>
            <a:ext cx="859536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718304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Public URL: Available on request from the project team.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914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Actions. ~$914,000 in Recoverable Annual Gross Profit.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320040" y="530352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directly to a finding from the analysis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914400" cy="6492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69848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371600" y="93268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— Adopt MMR-Anchored Bid Pricing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121615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1: MMR r=0.97  |  Bid = MMR × (1 + mileage_adj + condition_adj + make_adj)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96926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+$27,000/mo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0040" y="1591056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591056"/>
            <a:ext cx="914400" cy="64922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792224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371600" y="16550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— Prioritise Low-Mileage Sourcing (0–30k miles)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193852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2: Sub-30k vehicles consistently sell above MMR  |  Target ≥30% of monthly acquisitions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92240" y="1682496"/>
            <a:ext cx="2194560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+$30,000/mo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20040" y="2313432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313432"/>
            <a:ext cx="914400" cy="64922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514600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371600" y="23774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— Implement Seasonal Acquisition Timing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71600" y="2660904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5: Jun–Jul avg $16,700+ vs Dec–Apr avg $10,300–$11,200  |  Source in Q4/Q1, retail in summer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92240" y="2404872"/>
            <a:ext cx="2194560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41401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+$50,000/yr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0040" y="3035808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035808"/>
            <a:ext cx="914400" cy="649224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236976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371600" y="309981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— Execute Geographic Arbitrage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338328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6: Ontario / TN / CO show above-average price-to-MMR  |  Source low, transport to premium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92240" y="3127248"/>
            <a:ext cx="2194560" cy="475488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13639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+$84,000/yr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0040" y="3758184"/>
            <a:ext cx="8503920" cy="649224"/>
          </a:xfrm>
          <a:prstGeom prst="rect">
            <a:avLst/>
          </a:prstGeom>
          <a:solidFill>
            <a:srgbClr val="F4F6F8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" y="3758184"/>
            <a:ext cx="914400" cy="649224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959352"/>
            <a:ext cx="914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371600" y="38221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— Automate Condition-Based Pricing Alerts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371600" y="410565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3: Condition tier drives $2k–$3.5k variation  |  Integrate condition score into DMS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492240" y="3849624"/>
            <a:ext cx="2194560" cy="475488"/>
          </a:xfrm>
          <a:prstGeom prst="rect">
            <a:avLst/>
          </a:prstGeom>
          <a:solidFill>
            <a:srgbClr val="1F618D"/>
          </a:solidFill>
          <a:ln w="12700">
            <a:solidFill>
              <a:srgbClr val="1F618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385876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+$96,000/yr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20040" y="4690872"/>
            <a:ext cx="850392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700016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Impact Estimate:   ~$914,000 / year   |   3-rooftop dealer group, 100 units/month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Make the Decision Easy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58952"/>
          <a:ext cx="5577840" cy="3749040"/>
        </p:xfrm>
        <a:graphic>
          <a:graphicData uri="http://schemas.openxmlformats.org/drawingml/2006/table">
            <a:tbl>
              <a:tblPr/>
              <a:tblGrid>
                <a:gridCol w="3108960"/>
                <a:gridCol w="1234440"/>
                <a:gridCol w="1234440"/>
              </a:tblGrid>
              <a:tr h="5355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— MMR-Anchored Bids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+$27,000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+$324,000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— Low-Mileage Sourcing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+$360,000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— Seasonal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+$4,050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 — Geographic Arbitrage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+$7,000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+$84,000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5D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 — Condition 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+$96,000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+$76,050 /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+$914,000 / yr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080760" y="758952"/>
            <a:ext cx="2743200" cy="2423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199632" y="850392"/>
            <a:ext cx="2505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Act NOW?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199632" y="1243584"/>
            <a:ext cx="250545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dealer groups already deploy AI-assisted bidding.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auctions compress traditional price-information advantages.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exists. The model is built. The only variable is the decision to act.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080760" y="3310128"/>
            <a:ext cx="2743200" cy="1188720"/>
          </a:xfrm>
          <a:prstGeom prst="rect">
            <a:avLst/>
          </a:prstGeom>
          <a:solidFill>
            <a:srgbClr val="263454"/>
          </a:solidFill>
          <a:ln w="6350">
            <a:solidFill>
              <a:srgbClr val="2E40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99632" y="3383280"/>
            <a:ext cx="25054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199632" y="3648456"/>
            <a:ext cx="2505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vehicle acquisitions / month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acquisition cost: $13,500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3-rooftop dealer group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0040" y="4663440"/>
            <a:ext cx="557784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4681728"/>
            <a:ext cx="5440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Inaction: ~$76,000/month in recoverable gross profit left on the table.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Know, What We Don't, and What Comes Next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20040" y="758952"/>
            <a:ext cx="416052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758952"/>
            <a:ext cx="4160520" cy="384048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95528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12984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sales cover 2014–2015 only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5727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model years span 1990–2015, but all auction transactions are from 2014–2015. EV adoption, COVID-era shocks, and interest rate cycles are not captured.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" y="22128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auction data only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24871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insights apply to the auction floor. Retail consumer prices carry 10–25% dealer margins — a separate model is needed for consumer recommendations.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5488" y="31272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sample skew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34015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FL, TX dominate transaction volume. States with fewer than 1,000 records should be interpreted with caution at state level.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40416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MMR is a wholesale benchmark only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" y="43159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insights apply to the auction floor. Retail consumer prices carry 10–25% dealer margins — a separate analysis is needed for consumer-facing recommendations.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758952"/>
            <a:ext cx="416052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758952"/>
            <a:ext cx="416052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795528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Built Next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18888" y="12984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Auction Dashboard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18888" y="15727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Tableau to a live data feed — replace the static 2014–2015 snapshot with continuously updating market intelligence at the lane.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18888" y="22128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Scoring Automation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18888" y="24871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condition grading tool using inspection data — eliminating subjective assessments and anchoring bids to objective scores.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18888" y="31272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Wholesale-to-Retail Model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18888" y="34015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AutoTrader / CarGurus retail prices to build the complete wholesale-to-retail margin model — the full dealer P&amp;L picture.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18888" y="4041648"/>
            <a:ext cx="3858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Expansion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18888" y="4315968"/>
            <a:ext cx="3858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analysis to include current-year auction data from additional markets to validate the arbitrage and seasonal findings in today's conditions.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690872"/>
            <a:ext cx="8503920" cy="36576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700016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is built. The model is proven. The next step turns this from an analysis into a product.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9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18872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Team That Understood Every Slide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8503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  |  Newton School of Technology  |  DVA Capstone 2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914400"/>
                <a:gridCol w="914400"/>
                <a:gridCol w="777240"/>
                <a:gridCol w="1051560"/>
                <a:gridCol w="749808"/>
                <a:gridCol w="749808"/>
                <a:gridCol w="74066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Member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&amp;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ETL &amp;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EDA &amp;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Tableau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Abhinav Bajpai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2401010017 | Project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Kushagra Bhardwaj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2401010247 | ETL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Rishiwant K. Maurya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2401020102 | Analysis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Pranav Singh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2401010333 | Visualization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Samriddhi Shah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2401010411 | Strategy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4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Drishti Jha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2401010162 | PPT &amp; Quality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EC8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304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4224528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Declaration: We confirm all contributions are accurate and verifiable through GitHub Insights, PR history, and submitted artifacts.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320040" y="4663440"/>
            <a:ext cx="8503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468172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algn="ctr" indent="0" marL="0">
              <a:buNone/>
            </a:pPr>
            <a:r>
              <a:rPr lang="en-US" sz="1000" b="1" u="sng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github.com/Abhinavbajpai30/SectionB_TeamG4_JudgingACarByItsCover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|     All notebooks committed and version-controlled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Judging a Car by its Cover</dc:title>
  <dc:subject>PptxGenJS Presentation</dc:subject>
  <dc:creator>Group 4 — Newton School of Technology</dc:creator>
  <cp:lastModifiedBy>Group 4 — Newton School of Technology</cp:lastModifiedBy>
  <cp:revision>1</cp:revision>
  <dcterms:created xsi:type="dcterms:W3CDTF">2026-04-30T04:10:03Z</dcterms:created>
  <dcterms:modified xsi:type="dcterms:W3CDTF">2026-04-30T04:10:03Z</dcterms:modified>
</cp:coreProperties>
</file>